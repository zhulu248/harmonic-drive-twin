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9145" y="475488"/>
            <a:ext cx="892820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64"/>
                </a:solidFill>
                <a:latin typeface="Arial"/>
              </a:rPr>
              <a:t>P  A  C  K  A  G  E     A  N  A  T  O  M  Y     –     1     /  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145" y="719632"/>
            <a:ext cx="892820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46464"/>
                </a:solidFill>
                <a:latin typeface="Arial"/>
              </a:rPr>
              <a:t>What ships, and how it is layered</a:t>
            </a:r>
          </a:p>
        </p:txBody>
      </p:sp>
      <p:pic>
        <p:nvPicPr>
          <p:cNvPr id="4" name="Picture 3" descr="schaeffler_wordmar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232" y="477316"/>
            <a:ext cx="1620316" cy="1810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225296"/>
            <a:ext cx="12191695" cy="19050"/>
          </a:xfrm>
          <a:prstGeom prst="rect">
            <a:avLst/>
          </a:prstGeom>
          <a:solidFill>
            <a:srgbClr val="00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9145" y="139903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Arial"/>
              </a:rPr>
              <a:t>A physics calculator for a strain-wave gearbox: give it an operating point, it returns the motor torque you need, the efficiency, where every watt went, and how much the drive twists.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9145" y="18836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93D"/>
                </a:solidFill>
                <a:latin typeface="Arial"/>
              </a:rPr>
              <a:t>Four layers – each knows only the ones below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9145" y="2267712"/>
            <a:ext cx="82296" cy="566928"/>
          </a:xfrm>
          <a:prstGeom prst="rect">
            <a:avLst/>
          </a:prstGeom>
          <a:solidFill>
            <a:srgbClr val="00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224942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93D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4633" y="224942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6464"/>
                </a:solidFill>
                <a:latin typeface="Consolas"/>
              </a:rPr>
              <a:t>__init__.py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1993" y="224942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93D"/>
                </a:solidFill>
                <a:latin typeface="Arial"/>
              </a:rPr>
              <a:t>the front door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633" y="248716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rial"/>
              </a:rPr>
              <a:t>curates the 13-name public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145" y="2980944"/>
            <a:ext cx="82296" cy="566928"/>
          </a:xfrm>
          <a:prstGeom prst="rect">
            <a:avLst/>
          </a:prstGeom>
          <a:solidFill>
            <a:srgbClr val="00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" y="2962656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93D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633" y="296265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6464"/>
                </a:solidFill>
                <a:latin typeface="Consolas"/>
              </a:rPr>
              <a:t>twin.py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1993" y="296265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93D"/>
                </a:solidFill>
                <a:latin typeface="Arial"/>
              </a:rPr>
              <a:t>the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33" y="320040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rial"/>
              </a:rPr>
              <a:t>does the work – solve() and 11 more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145" y="3694176"/>
            <a:ext cx="82296" cy="566928"/>
          </a:xfrm>
          <a:prstGeom prst="rect">
            <a:avLst/>
          </a:prstGeom>
          <a:solidFill>
            <a:srgbClr val="00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" y="3675888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93D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" y="367588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6464"/>
                </a:solidFill>
                <a:latin typeface="Consolas"/>
              </a:rPr>
              <a:t>params.py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1993" y="367588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93D"/>
                </a:solidFill>
                <a:latin typeface="Arial"/>
              </a:rPr>
              <a:t>the dials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633" y="391363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rial"/>
              </a:rPr>
              <a:t>the only thing a user should edit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9145" y="4407408"/>
            <a:ext cx="82296" cy="566928"/>
          </a:xfrm>
          <a:prstGeom prst="rect">
            <a:avLst/>
          </a:prstGeom>
          <a:solidFill>
            <a:srgbClr val="00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" y="438912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93D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633" y="438912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6464"/>
                </a:solidFill>
                <a:latin typeface="Consolas"/>
              </a:rPr>
              <a:t>flex_common/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1993" y="438912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93D"/>
                </a:solidFill>
                <a:latin typeface="Arial"/>
              </a:rPr>
              <a:t>the physics foundation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" y="462686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rial"/>
              </a:rPr>
              <a:t>the equations, 7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188366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93D"/>
                </a:solidFill>
                <a:latin typeface="Arial"/>
              </a:rPr>
              <a:t>What is in the box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035040" y="2231136"/>
          <a:ext cx="5669279" cy="2756916"/>
        </p:xfrm>
        <a:graphic>
          <a:graphicData uri="http://schemas.openxmlformats.org/drawingml/2006/table">
            <a:tbl>
              <a:tblPr firstRow="0" bandRow="0"/>
              <a:tblGrid>
                <a:gridCol w="1572768"/>
                <a:gridCol w="749808"/>
                <a:gridCol w="2084831"/>
                <a:gridCol w="1261872"/>
              </a:tblGrid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82296" marR="64008" marT="27432" marB="27432" anchor="ctr">
                    <a:solidFill>
                      <a:srgbClr val="008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Lines</a:t>
                      </a:r>
                    </a:p>
                  </a:txBody>
                  <a:tcPr marL="82296" marR="64008" marT="27432" marB="27432" anchor="ctr">
                    <a:solidFill>
                      <a:srgbClr val="008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82296" marR="64008" marT="27432" marB="27432" anchor="ctr">
                    <a:solidFill>
                      <a:srgbClr val="008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User opens it?</a:t>
                      </a:r>
                    </a:p>
                  </a:txBody>
                  <a:tcPr marL="82296" marR="64008" marT="27432" marB="27432" anchor="ctr">
                    <a:solidFill>
                      <a:srgbClr val="00893D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README.md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shop window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yes, first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__init__.py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front door / public API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indirectly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twin.py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787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the engine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if curious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params.py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the dials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yes, to adapt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catalogue.py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reality check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to validate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flex_common/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1 356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physics foundation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rarely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examples/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on-ramps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yes, to start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tests/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the proof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to verify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035040" y="513892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6464"/>
                </a:solidFill>
                <a:latin typeface="Arial"/>
              </a:rPr>
              <a:t>2 947 lines of Python in the model itself. NumPy + SciPy only – no compiled extensions, no companion repo, no license server.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" y="6528816"/>
            <a:ext cx="822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  <a:latin typeface="Arial"/>
              </a:rPr>
              <a:t>July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6528816"/>
            <a:ext cx="6858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  <a:latin typeface="Arial"/>
              </a:rPr>
              <a:t>harmonic-drive-twin  |  Package anatomy  |  Schaeffler R&amp;D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6528816"/>
            <a:ext cx="3200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6464"/>
                </a:solidFill>
                <a:latin typeface="Arial"/>
              </a:rPr>
              <a:t>Copyright Schaeffler AG, 2026 – All rights reserved.  |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66576" y="6528816"/>
            <a:ext cx="24688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6464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9145" y="475488"/>
            <a:ext cx="892820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64"/>
                </a:solidFill>
                <a:latin typeface="Arial"/>
              </a:rPr>
              <a:t>P  A  C  K  A  G  E     A  N  A  T  O  M  Y     –     2     /  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145" y="719632"/>
            <a:ext cx="892820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46464"/>
                </a:solidFill>
                <a:latin typeface="Arial"/>
              </a:rPr>
              <a:t>The physics foundation – flex_common/</a:t>
            </a:r>
          </a:p>
        </p:txBody>
      </p:sp>
      <p:pic>
        <p:nvPicPr>
          <p:cNvPr id="4" name="Picture 3" descr="schaeffler_wordmar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232" y="477316"/>
            <a:ext cx="1620316" cy="1810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225296"/>
            <a:ext cx="12191695" cy="19050"/>
          </a:xfrm>
          <a:prstGeom prst="rect">
            <a:avLst/>
          </a:prstGeom>
          <a:solidFill>
            <a:srgbClr val="00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9145" y="1399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6464"/>
                </a:solidFill>
                <a:latin typeface="Arial"/>
              </a:rPr>
              <a:t>Seven small modules, ~1 300 lines. Each is one piece of textbook mechanics – this is what makes the model physics-based rather than a curve fit.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9145" y="1847088"/>
          <a:ext cx="11233404" cy="4279392"/>
        </p:xfrm>
        <a:graphic>
          <a:graphicData uri="http://schemas.openxmlformats.org/drawingml/2006/table">
            <a:tbl>
              <a:tblPr firstRow="0" bandRow="0"/>
              <a:tblGrid>
                <a:gridCol w="1481328"/>
                <a:gridCol w="658368"/>
                <a:gridCol w="9093708"/>
              </a:tblGrid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 marL="82296" marR="64008" marT="27432" marB="27432" anchor="ctr">
                    <a:solidFill>
                      <a:srgbClr val="008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Lines</a:t>
                      </a:r>
                    </a:p>
                  </a:txBody>
                  <a:tcPr marL="82296" marR="64008" marT="27432" marB="27432" anchor="ctr">
                    <a:solidFill>
                      <a:srgbClr val="008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 one sentence</a:t>
                      </a:r>
                    </a:p>
                  </a:txBody>
                  <a:tcPr marL="82296" marR="64008" marT="27432" marB="27432" anchor="ctr">
                    <a:solidFill>
                      <a:srgbClr val="00893D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Consolas"/>
                        </a:rPr>
                        <a:t>baseline.py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646464"/>
                          </a:solidFill>
                          <a:latin typeface="Arial"/>
                        </a:rPr>
                        <a:t>The reference part. </a:t>
                      </a:r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One agreed set of numbers — R = 20 mm, wall 0.4 mm, ovalization 0.30 mm, 200/202 teeth — so every module means the same gearbox.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Consolas"/>
                        </a:rPr>
                        <a:t>ring.py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646464"/>
                          </a:solidFill>
                          <a:latin typeface="Arial"/>
                        </a:rPr>
                        <a:t>The flexspline as a thin ring. </a:t>
                      </a:r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Squash a thin steel ring into an ellipse; gives bending moment, shear and contact pressure in closed form.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Consolas"/>
                        </a:rPr>
                        <a:t>ellipse.py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646464"/>
                          </a:solidFill>
                          <a:latin typeface="Arial"/>
                        </a:rPr>
                        <a:t>A real ellipse is not a pure cos 2θ. </a:t>
                      </a:r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Decomposes the true shape into harmonics and adds the ring response to each. The correction term for ring.py.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Consolas"/>
                        </a:rPr>
                        <a:t>mesh.py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646464"/>
                          </a:solidFill>
                          <a:latin typeface="Arial"/>
                        </a:rPr>
                        <a:t>Which teeth are touching, right now. </a:t>
                      </a:r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From the wave-generator angle: which flexspline teeth line up with which spaces, and how each tooth moves — radial breathing, tangential slide, tilt. The heart of the kinematics.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Consolas"/>
                        </a:rPr>
                        <a:t>profile.py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646464"/>
                          </a:solidFill>
                          <a:latin typeface="Arial"/>
                        </a:rPr>
                        <a:t>What shape the teeth must be. </a:t>
                      </a:r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Synthesises the circular-spline flank as the conjugate envelope of the flexspline tooth, and the flank sliding speed — which feeds friction and wear.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Consolas"/>
                        </a:rPr>
                        <a:t>friction.py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646464"/>
                          </a:solidFill>
                          <a:latin typeface="Arial"/>
                        </a:rPr>
                        <a:t>Why it takes torque to spin an unloaded drive. </a:t>
                      </a:r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Without friction the no-load torque is exactly zero; this shows why, and what friction adds.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Consolas"/>
                        </a:rPr>
                        <a:t>teeth.py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646464"/>
                          </a:solidFill>
                          <a:latin typeface="Arial"/>
                        </a:rPr>
                        <a:t>Tooth-root stress. </a:t>
                      </a:r>
                      <a:r>
                        <a:rPr sz="1050" b="0">
                          <a:solidFill>
                            <a:srgbClr val="646464"/>
                          </a:solidFill>
                          <a:latin typeface="Arial"/>
                        </a:rPr>
                        <a:t>Lewis cantilever bending plus Dolan–Broghamer fillet concentration — the fatigue surrogate.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9145" y="6181344"/>
            <a:ext cx="112334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rial"/>
              </a:rPr>
              <a:t>A user of the twin never opens these — they are the foundation under the floorboards. But a skeptical reviewer goes straight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9145" y="6528816"/>
            <a:ext cx="822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  <a:latin typeface="Arial"/>
              </a:rPr>
              <a:t>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6528816"/>
            <a:ext cx="6858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  <a:latin typeface="Arial"/>
              </a:rPr>
              <a:t>harmonic-drive-twin  |  Package anatomy  |  Schaeffler R&amp;D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8816"/>
            <a:ext cx="3200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6464"/>
                </a:solidFill>
                <a:latin typeface="Arial"/>
              </a:rPr>
              <a:t>Copyright Schaeffler AG, 2026 – All rights reserved.  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66576" y="6528816"/>
            <a:ext cx="24688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646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9145" y="475488"/>
            <a:ext cx="8928201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6464"/>
                </a:solidFill>
                <a:latin typeface="Arial"/>
              </a:rPr>
              <a:t>P  A  C  K  A  G  E     A  N  A  T  O  M  Y     –     3     /  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145" y="719632"/>
            <a:ext cx="892820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46464"/>
                </a:solidFill>
                <a:latin typeface="Arial"/>
              </a:rPr>
              <a:t>The dials, the proof, and how to start</a:t>
            </a:r>
          </a:p>
        </p:txBody>
      </p:sp>
      <p:pic>
        <p:nvPicPr>
          <p:cNvPr id="4" name="Picture 3" descr="schaeffler_wordmar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232" y="477316"/>
            <a:ext cx="1620316" cy="1810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225296"/>
            <a:ext cx="12191695" cy="19050"/>
          </a:xfrm>
          <a:prstGeom prst="rect">
            <a:avLst/>
          </a:prstGeom>
          <a:solidFill>
            <a:srgbClr val="00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9145" y="13807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93D"/>
                </a:solidFill>
                <a:latin typeface="Arial"/>
              </a:rPr>
              <a:t>The dials – params.py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9145" y="170078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rial"/>
              </a:rPr>
              <a:t>Every adjustable quantity lives in one of four labelled boxes.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9145" y="2011680"/>
          <a:ext cx="6492240" cy="2286000"/>
        </p:xfrm>
        <a:graphic>
          <a:graphicData uri="http://schemas.openxmlformats.org/drawingml/2006/table">
            <a:tbl>
              <a:tblPr firstRow="0" bandRow="0"/>
              <a:tblGrid>
                <a:gridCol w="1664208"/>
                <a:gridCol w="1901952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Dataclass</a:t>
                      </a:r>
                    </a:p>
                  </a:txBody>
                  <a:tcPr marL="82296" marR="64008" marT="27432" marB="27432" anchor="ctr">
                    <a:solidFill>
                      <a:srgbClr val="008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holds</a:t>
                      </a:r>
                    </a:p>
                  </a:txBody>
                  <a:tcPr marL="82296" marR="64008" marT="27432" marB="27432" anchor="ctr">
                    <a:solidFill>
                      <a:srgbClr val="0089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 knobs</a:t>
                      </a:r>
                    </a:p>
                  </a:txBody>
                  <a:tcPr marL="82296" marR="64008" marT="27432" marB="27432" anchor="ctr">
                    <a:solidFill>
                      <a:srgbClr val="0089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FrictionParams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How things rub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boundary friction, Stribeck speed, WG bearing coefficient, grease churn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ThermalParams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How temperature changes things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viscosity vs temperature, thermal expansion of clearances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ToleranceParams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Manufacturing imperfection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backlash, tooth-to-tooth pitch scatter (Monte-Carlo)</a:t>
                      </a:r>
                    </a:p>
                  </a:txBody>
                  <a:tcPr marL="82296" marR="64008" marT="27432" marB="27432" anchor="ctr">
                    <a:solidFill>
                      <a:srgbClr val="E6F4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Consolas"/>
                        </a:rPr>
                        <a:t>StiffnessChain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How the drive twists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6464"/>
                          </a:solidFill>
                          <a:latin typeface="Arial"/>
                        </a:rPr>
                        <a:t>series chain: cup + WG bearing + mesh + output bearing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9145" y="4407408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rial"/>
              </a:rPr>
              <a:t>A user adapting the twin to their gearbox edits here — never the equations. That is the contract.  Units: mm, N, N·mm, rad/s, °C.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78624" y="1344168"/>
            <a:ext cx="12700" cy="397763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8" y="13807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93D"/>
                </a:solidFill>
                <a:latin typeface="Arial"/>
              </a:rPr>
              <a:t>The proof – catalogue.py + tests/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7808" y="1682496"/>
            <a:ext cx="4105656" cy="1298448"/>
          </a:xfrm>
          <a:prstGeom prst="rect">
            <a:avLst/>
          </a:prstGeom>
          <a:solidFill>
            <a:srgbClr val="E6F4EC"/>
          </a:solidFill>
          <a:ln w="9525">
            <a:solidFill>
              <a:srgbClr val="008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607808" y="1682496"/>
            <a:ext cx="64008" cy="1298448"/>
          </a:xfrm>
          <a:prstGeom prst="rect">
            <a:avLst/>
          </a:prstGeom>
          <a:solidFill>
            <a:srgbClr val="00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1764792"/>
            <a:ext cx="3785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93D"/>
                </a:solidFill>
                <a:latin typeface="Arial"/>
              </a:rPr>
              <a:t>The headline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2029968"/>
            <a:ext cx="37856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46464"/>
                </a:solidFill>
                <a:latin typeface="Arial"/>
              </a:rPr>
              <a:t>Five independent catalogue quantities, four frame sizes, matched with only three global calibration dials and zero per-size fitting.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127248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646464"/>
                </a:solidFill>
                <a:latin typeface="Arial"/>
              </a:rPr>
              <a:t>•  Schaeffler TPI 275, series RT1-H-CS, i = 100, +20 °C.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646464"/>
                </a:solidFill>
                <a:latin typeface="Arial"/>
              </a:rPr>
              <a:t>•  Torsional stiffness uses no fitting at all — FE-anchored physical chain.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646464"/>
                </a:solidFill>
                <a:latin typeface="Arial"/>
              </a:rPr>
              <a:t>•  Four tests keep the claim honest: if pytest passes, the README numbers are true.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" y="495604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93D"/>
                </a:solidFill>
                <a:latin typeface="Arial"/>
              </a:rPr>
              <a:t>How a user meets the package — most stop at the first depth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145" y="5303520"/>
            <a:ext cx="3611880" cy="1060704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145" y="5303520"/>
            <a:ext cx="64008" cy="1060704"/>
          </a:xfrm>
          <a:prstGeom prst="rect">
            <a:avLst/>
          </a:prstGeom>
          <a:solidFill>
            <a:srgbClr val="00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" y="5367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93D"/>
                </a:solidFill>
                <a:latin typeface="Arial"/>
              </a:rPr>
              <a:t>DEPTH 1  ·  "just give me a number"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" y="560527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46464"/>
                </a:solidFill>
                <a:latin typeface="Consolas"/>
              </a:rPr>
              <a:t>solve_point(30.0, 2000)  →  η = 77.9 %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" y="588873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one line, ~30 s to first result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4761" y="5303520"/>
            <a:ext cx="3611880" cy="1060704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4761" y="5303520"/>
            <a:ext cx="64008" cy="1060704"/>
          </a:xfrm>
          <a:prstGeom prst="rect">
            <a:avLst/>
          </a:prstGeom>
          <a:solidFill>
            <a:srgbClr val="00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9353" y="5367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93D"/>
                </a:solidFill>
                <a:latin typeface="Arial"/>
              </a:rPr>
              <a:t>DEPTH 2  ·  "model my specific gearbox"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9353" y="560527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46464"/>
                </a:solidFill>
                <a:latin typeface="Consolas"/>
              </a:rPr>
              <a:t>twin_for_size(17)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9353" y="588873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or build a twin with your own parameter blocks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50377" y="5303520"/>
            <a:ext cx="3611880" cy="1060704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50377" y="5303520"/>
            <a:ext cx="64008" cy="1060704"/>
          </a:xfrm>
          <a:prstGeom prst="rect">
            <a:avLst/>
          </a:prstGeom>
          <a:solidFill>
            <a:srgbClr val="00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4969" y="5367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93D"/>
                </a:solidFill>
                <a:latin typeface="Arial"/>
              </a:rPr>
              <a:t>DEPTH 3  ·  "put it in my robot sim"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4969" y="560527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46464"/>
                </a:solidFill>
                <a:latin typeface="Consolas"/>
              </a:rPr>
              <a:t>isaacsim6_actuator.py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4969" y="588873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6464"/>
                </a:solidFill>
                <a:latin typeface="Arial"/>
              </a:rPr>
              <a:t>copy the class, call .step() each frame</a:t>
            </a:r>
          </a:p>
        </p:txBody>
      </p:sp>
      <p:pic>
        <p:nvPicPr>
          <p:cNvPr id="33" name="Picture 32" descr="we_pioneer_motion_cla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4315968"/>
            <a:ext cx="1636776" cy="18836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79145" y="6528816"/>
            <a:ext cx="822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  <a:latin typeface="Arial"/>
              </a:rPr>
              <a:t>July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6528816"/>
            <a:ext cx="6858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6464"/>
                </a:solidFill>
                <a:latin typeface="Arial"/>
              </a:rPr>
              <a:t>harmonic-drive-twin  |  Package anatomy  |  Schaeffler R&amp;D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6528816"/>
            <a:ext cx="3200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6464"/>
                </a:solidFill>
                <a:latin typeface="Arial"/>
              </a:rPr>
              <a:t>Copyright Schaeffler AG, 2026 – All rights reserved.  |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66576" y="6528816"/>
            <a:ext cx="24688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4646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